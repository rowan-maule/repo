
<file path=[Content_Types].xml><?xml version="1.0" encoding="utf-8"?>
<Types xmlns="http://schemas.openxmlformats.org/package/2006/content-types">
  <Default Extension="doc" ContentType="application/msword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</p:sldIdLst>
  <p:sldSz cx="6858000" cy="9144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0" autoAdjust="0"/>
    <p:restoredTop sz="94660"/>
  </p:normalViewPr>
  <p:slideViewPr>
    <p:cSldViewPr>
      <p:cViewPr>
        <p:scale>
          <a:sx n="90" d="100"/>
          <a:sy n="90" d="100"/>
        </p:scale>
        <p:origin x="1680" y="-108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25A82B-2CCF-464E-91C1-C2331CDBA5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E3288B-9524-4753-B7CB-1A7EABF3D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1CDB50-91A3-46F3-89B9-1625B4AD17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B70BB-8141-42C8-8C99-8154A0B694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1694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352CC2-7A15-453A-8A90-1F38E659B2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AF9D89-D6A0-44FB-B1F4-25AA5E7B14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0E09AB-3569-46C7-970E-7400B31AE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68D6E-CE00-4CFF-97B8-35784329E3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52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AA8AC3-8641-4349-901B-71EBF9121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0D7D54-C431-45F7-A332-5F0286C9B7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5FC0BE-BDCC-4B7C-9C5B-908B58162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FCEB6-4B09-47DD-9333-5A2E73C476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55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D5431-C216-478F-AD06-B324F4216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3BD0F-AEFB-4A07-A2F0-D4229A319F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0E720-1A03-4226-9F7D-49154454FF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7FEC9-1941-4731-991F-A7E988AAB9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71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9722A30-726A-4684-899A-C9BAAEFAA4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E954E49-D61A-48C7-B3E1-87D24A550C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AD96845-8722-40D1-B7B6-19DA62CC0B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A5AFD-52C1-4DA4-AA98-B08678FB76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27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8C6C15-FD56-4ABA-AB12-BAA70ACDFB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50E1FB-2178-4660-859C-59A4AD3736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A6322A-92C9-446C-930A-0698A19F92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749A5-D26B-4DD9-88B7-4BB0D71C6E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18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6BD151-6E80-4919-A6C6-E85E8962B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DE622F-11F0-46C9-85F2-95727BDB71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738D21C-6B11-469E-BF8F-83948469C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76B22-A5F5-4030-927E-C4CA6A17B4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02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731B5-3765-429E-872A-8668632123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07C996-8DF7-4E2F-AF23-8DAE146FF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165721-1FB1-4FD2-A3E1-477148721D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26379-5844-4A64-9BA4-F7716D322D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64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575CE-128F-476E-9884-7448180382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8A3289-721A-48D4-BD33-CB44F14573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9935AD-6A4E-4742-A5EC-70E337C65E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70698-8585-408D-A50A-82C6BAF88B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94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1E756A-6CC2-49FD-B2C6-94BBA2E28D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7474D1-7536-4F1B-9CB0-D3EB9F13FE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534539-C415-4FB2-BCF4-AA9959083D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15850-7A6B-4577-8E5E-4628090CA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7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812800"/>
            <a:ext cx="1457325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812800"/>
            <a:ext cx="4219575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C7C570-8D38-46A4-A221-68C08F2759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DE6BD3-ADB3-4002-8C56-DD9C0767C1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5F287D-3029-4F09-A12C-3077245F7E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AE627-F7F6-4910-8AF8-EDFD7EF370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41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C1576A-CAC6-4108-AC52-7CAE92E89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FFCB32-D8F0-40DD-8DDD-4FE31F5DE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1600"/>
            <a:ext cx="58293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5817BB7-B3C8-41CB-87F5-8A89D275B32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05F237-D2AD-46AB-9089-261059316D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1200"/>
            <a:ext cx="21717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A19BE72-D15C-4880-BADE-7EDEFB1FE9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807ACE82-7722-4325-9638-353FC5DF31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Microsoft_Word_97_-_2003_Document.doc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0FC2EDEB-CD6D-479E-AC2A-6579F6E4CF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306380"/>
              </p:ext>
            </p:extLst>
          </p:nvPr>
        </p:nvGraphicFramePr>
        <p:xfrm>
          <a:off x="541338" y="5113338"/>
          <a:ext cx="5181600" cy="281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85703" imgH="2984165" progId="Word.Document.8">
                  <p:embed/>
                </p:oleObj>
              </mc:Choice>
              <mc:Fallback>
                <p:oleObj name="Document" r:id="rId2" imgW="5485703" imgH="298416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8" y="5113338"/>
                        <a:ext cx="5181600" cy="281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Text Box 3">
            <a:extLst>
              <a:ext uri="{FF2B5EF4-FFF2-40B4-BE49-F238E27FC236}">
                <a16:creationId xmlns:a16="http://schemas.microsoft.com/office/drawing/2014/main" id="{6F9A29ED-552A-4B04-9BFF-78324234E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52400"/>
            <a:ext cx="9556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CMSC204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Kartchner</a:t>
            </a:r>
          </a:p>
        </p:txBody>
      </p:sp>
      <p:sp>
        <p:nvSpPr>
          <p:cNvPr id="2054" name="Rectangle 7">
            <a:extLst>
              <a:ext uri="{FF2B5EF4-FFF2-40B4-BE49-F238E27FC236}">
                <a16:creationId xmlns:a16="http://schemas.microsoft.com/office/drawing/2014/main" id="{CD9F0903-62EA-42BD-8AD2-C0B50A702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189038"/>
            <a:ext cx="62912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V(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{Oregon, Alaska, Texas, Hawaii, Vermont, </a:t>
            </a:r>
            <a:r>
              <a:rPr lang="en-US" altLang="en-US" sz="1200" dirty="0" err="1"/>
              <a:t>NewYork</a:t>
            </a:r>
            <a:r>
              <a:rPr lang="en-US" altLang="en-US" sz="1200" dirty="0"/>
              <a:t>, California}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E(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{(Alaska, Oregon), (Hawaii, Alaska), (Hawaii, Texas), (Texas, Hawaii), (Hawaii, 	California), (Hawaii, New York), (Texas, Vermont), (Vermont, California), 	(Vermont, Alaska)}</a:t>
            </a:r>
          </a:p>
        </p:txBody>
      </p:sp>
      <p:sp>
        <p:nvSpPr>
          <p:cNvPr id="2055" name="Rectangle 8">
            <a:extLst>
              <a:ext uri="{FF2B5EF4-FFF2-40B4-BE49-F238E27FC236}">
                <a16:creationId xmlns:a16="http://schemas.microsoft.com/office/drawing/2014/main" id="{23AE5A62-58FC-45BC-8E66-2A3E942B3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429000"/>
            <a:ext cx="5791200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56" name="Text Box 9">
            <a:extLst>
              <a:ext uri="{FF2B5EF4-FFF2-40B4-BE49-F238E27FC236}">
                <a16:creationId xmlns:a16="http://schemas.microsoft.com/office/drawing/2014/main" id="{DF9A9F0D-E17B-4441-A5AB-ABE3472E3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246313"/>
            <a:ext cx="1663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1.  Draw the StateGraph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DBF5A36-0A52-F156-D424-360F59231578}"/>
              </a:ext>
            </a:extLst>
          </p:cNvPr>
          <p:cNvSpPr/>
          <p:nvPr/>
        </p:nvSpPr>
        <p:spPr bwMode="auto">
          <a:xfrm>
            <a:off x="3934816" y="3112030"/>
            <a:ext cx="866775" cy="4572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/>
              <a:t>Oregon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AB28BEF-B97B-B3B3-79A0-DD17D15B1DDA}"/>
              </a:ext>
            </a:extLst>
          </p:cNvPr>
          <p:cNvSpPr/>
          <p:nvPr/>
        </p:nvSpPr>
        <p:spPr bwMode="auto">
          <a:xfrm>
            <a:off x="2472528" y="2489184"/>
            <a:ext cx="866775" cy="4572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/>
              <a:t>Alaska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1924156-7D54-3B8B-932C-8387DCB733A4}"/>
              </a:ext>
            </a:extLst>
          </p:cNvPr>
          <p:cNvSpPr/>
          <p:nvPr/>
        </p:nvSpPr>
        <p:spPr bwMode="auto">
          <a:xfrm>
            <a:off x="622335" y="3123114"/>
            <a:ext cx="866775" cy="4572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/>
              <a:t>Texas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C13D08B-5063-8EE8-563C-176AD3EE39E5}"/>
              </a:ext>
            </a:extLst>
          </p:cNvPr>
          <p:cNvSpPr/>
          <p:nvPr/>
        </p:nvSpPr>
        <p:spPr bwMode="auto">
          <a:xfrm>
            <a:off x="2554949" y="3454930"/>
            <a:ext cx="866775" cy="4572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/>
              <a:t>Hawaii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5B63E2-3C4D-4429-4769-7100965ED873}"/>
              </a:ext>
            </a:extLst>
          </p:cNvPr>
          <p:cNvSpPr/>
          <p:nvPr/>
        </p:nvSpPr>
        <p:spPr bwMode="auto">
          <a:xfrm>
            <a:off x="694069" y="3809457"/>
            <a:ext cx="914400" cy="4572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/>
              <a:t>Vermont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E6F840-5D53-E27A-22B6-685BF98F72A0}"/>
              </a:ext>
            </a:extLst>
          </p:cNvPr>
          <p:cNvSpPr/>
          <p:nvPr/>
        </p:nvSpPr>
        <p:spPr bwMode="auto">
          <a:xfrm>
            <a:off x="4217593" y="3907648"/>
            <a:ext cx="1042989" cy="464607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 err="1"/>
              <a:t>NewYork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16558BE-FFBC-73CE-614C-4C3E233E182A}"/>
              </a:ext>
            </a:extLst>
          </p:cNvPr>
          <p:cNvSpPr/>
          <p:nvPr/>
        </p:nvSpPr>
        <p:spPr bwMode="auto">
          <a:xfrm>
            <a:off x="2472528" y="4444735"/>
            <a:ext cx="1042989" cy="4572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000" dirty="0"/>
              <a:t>California</a:t>
            </a:r>
            <a:endParaRPr kumimoji="0" 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179D4C-D28E-7BBC-3645-6AA18E30D1DB}"/>
              </a:ext>
            </a:extLst>
          </p:cNvPr>
          <p:cNvCxnSpPr>
            <a:cxnSpLocks/>
            <a:stCxn id="3" idx="6"/>
            <a:endCxn id="2" idx="1"/>
          </p:cNvCxnSpPr>
          <p:nvPr/>
        </p:nvCxnSpPr>
        <p:spPr bwMode="auto">
          <a:xfrm>
            <a:off x="3339303" y="2717784"/>
            <a:ext cx="722449" cy="4612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74AEF9-6C5B-60B9-0DBC-B216F3B76A23}"/>
              </a:ext>
            </a:extLst>
          </p:cNvPr>
          <p:cNvCxnSpPr>
            <a:cxnSpLocks/>
            <a:stCxn id="5" idx="7"/>
            <a:endCxn id="3" idx="5"/>
          </p:cNvCxnSpPr>
          <p:nvPr/>
        </p:nvCxnSpPr>
        <p:spPr bwMode="auto">
          <a:xfrm flipH="1" flipV="1">
            <a:off x="3212367" y="2879429"/>
            <a:ext cx="82421" cy="6424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7F146AC-1997-4742-15CD-1EACAA103358}"/>
              </a:ext>
            </a:extLst>
          </p:cNvPr>
          <p:cNvCxnSpPr>
            <a:cxnSpLocks/>
            <a:stCxn id="5" idx="2"/>
            <a:endCxn id="4" idx="5"/>
          </p:cNvCxnSpPr>
          <p:nvPr/>
        </p:nvCxnSpPr>
        <p:spPr bwMode="auto">
          <a:xfrm flipH="1" flipV="1">
            <a:off x="1362174" y="3513359"/>
            <a:ext cx="1192775" cy="1701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5F97F94-752D-15D9-AAE3-6C78B38F3A6A}"/>
              </a:ext>
            </a:extLst>
          </p:cNvPr>
          <p:cNvCxnSpPr>
            <a:cxnSpLocks/>
            <a:stCxn id="4" idx="6"/>
            <a:endCxn id="5" idx="1"/>
          </p:cNvCxnSpPr>
          <p:nvPr/>
        </p:nvCxnSpPr>
        <p:spPr bwMode="auto">
          <a:xfrm>
            <a:off x="1489110" y="3351714"/>
            <a:ext cx="1192775" cy="1701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371058E-FA7E-7D21-23E3-36A3C5D9794F}"/>
              </a:ext>
            </a:extLst>
          </p:cNvPr>
          <p:cNvCxnSpPr>
            <a:cxnSpLocks/>
            <a:stCxn id="5" idx="4"/>
            <a:endCxn id="8" idx="0"/>
          </p:cNvCxnSpPr>
          <p:nvPr/>
        </p:nvCxnSpPr>
        <p:spPr bwMode="auto">
          <a:xfrm>
            <a:off x="2988337" y="3912130"/>
            <a:ext cx="5686" cy="5326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E413E2-5878-E5E6-8301-AF3E184F14C0}"/>
              </a:ext>
            </a:extLst>
          </p:cNvPr>
          <p:cNvCxnSpPr>
            <a:cxnSpLocks/>
            <a:stCxn id="5" idx="6"/>
            <a:endCxn id="7" idx="2"/>
          </p:cNvCxnSpPr>
          <p:nvPr/>
        </p:nvCxnSpPr>
        <p:spPr bwMode="auto">
          <a:xfrm>
            <a:off x="3421724" y="3683530"/>
            <a:ext cx="795869" cy="4564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E32D3B6-CA97-02CB-FFE6-73A7E2B79675}"/>
              </a:ext>
            </a:extLst>
          </p:cNvPr>
          <p:cNvCxnSpPr>
            <a:stCxn id="4" idx="4"/>
            <a:endCxn id="6" idx="0"/>
          </p:cNvCxnSpPr>
          <p:nvPr/>
        </p:nvCxnSpPr>
        <p:spPr bwMode="auto">
          <a:xfrm>
            <a:off x="1055723" y="3580314"/>
            <a:ext cx="95546" cy="22914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25750CA-9E8B-F1B2-2474-321CFE1920E4}"/>
              </a:ext>
            </a:extLst>
          </p:cNvPr>
          <p:cNvCxnSpPr>
            <a:cxnSpLocks/>
            <a:stCxn id="6" idx="5"/>
            <a:endCxn id="8" idx="2"/>
          </p:cNvCxnSpPr>
          <p:nvPr/>
        </p:nvCxnSpPr>
        <p:spPr bwMode="auto">
          <a:xfrm>
            <a:off x="1474558" y="4199702"/>
            <a:ext cx="997970" cy="4736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BE68D97-0CA1-E0E1-D2AA-34E6A76D4E2C}"/>
              </a:ext>
            </a:extLst>
          </p:cNvPr>
          <p:cNvCxnSpPr>
            <a:stCxn id="6" idx="7"/>
            <a:endCxn id="3" idx="2"/>
          </p:cNvCxnSpPr>
          <p:nvPr/>
        </p:nvCxnSpPr>
        <p:spPr bwMode="auto">
          <a:xfrm flipV="1">
            <a:off x="1474558" y="2717784"/>
            <a:ext cx="997970" cy="11586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C129A688-1F3C-4C9F-9AC5-19802C32F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5446713"/>
            <a:ext cx="3217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3.   b.   Show the adjacency lists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           that would describe the edges in the graph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F1D4401-FBEF-43F9-BEE5-1B122142E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6019800"/>
            <a:ext cx="1295400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3641C4-B2C2-437B-AAA3-9677860519ED}"/>
              </a:ext>
            </a:extLst>
          </p:cNvPr>
          <p:cNvGrpSpPr/>
          <p:nvPr/>
        </p:nvGrpSpPr>
        <p:grpSpPr>
          <a:xfrm>
            <a:off x="914400" y="1447800"/>
            <a:ext cx="5486400" cy="2590800"/>
            <a:chOff x="381000" y="6248400"/>
            <a:chExt cx="5486400" cy="2590800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150515A3-7AEC-4F11-96B7-7933E5964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6553200"/>
              <a:ext cx="1143000" cy="2286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0. Alaska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1. California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2. Hawaii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3. New York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4. Oregon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5. Texas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6. Vermont</a:t>
              </a:r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AC614A04-AAA4-4C45-9079-2C377ECCE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477000"/>
              <a:ext cx="3962400" cy="2362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BCC31319-0CFB-4318-B56D-38F795438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6248400"/>
              <a:ext cx="54927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States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4B944C5-4159-45AC-A452-4E3D1B0B311C}"/>
              </a:ext>
            </a:extLst>
          </p:cNvPr>
          <p:cNvSpPr/>
          <p:nvPr/>
        </p:nvSpPr>
        <p:spPr>
          <a:xfrm>
            <a:off x="457200" y="304800"/>
            <a:ext cx="533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tabLst>
                <a:tab pos="228600" algn="l"/>
              </a:tabLst>
            </a:pPr>
            <a:r>
              <a:rPr lang="en-US" sz="1200" dirty="0">
                <a:ea typeface="Times New Roman" panose="02020603050405020304" pitchFamily="18" charset="0"/>
              </a:rPr>
              <a:t>a.  Show the adjacency matrix that would describe the edges in the graph. Store the vertices in alphabetical order</a:t>
            </a:r>
            <a:endParaRPr lang="en-US" sz="1000" dirty="0">
              <a:ea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6A2BE1-4CB3-612D-6861-6D636857C3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0905098"/>
              </p:ext>
            </p:extLst>
          </p:nvPr>
        </p:nvGraphicFramePr>
        <p:xfrm>
          <a:off x="2438400" y="1659466"/>
          <a:ext cx="3962399" cy="2775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057">
                  <a:extLst>
                    <a:ext uri="{9D8B030D-6E8A-4147-A177-3AD203B41FA5}">
                      <a16:colId xmlns:a16="http://schemas.microsoft.com/office/drawing/2014/main" val="2133488092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2021297198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781550251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396616290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1652724553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1656514595"/>
                    </a:ext>
                  </a:extLst>
                </a:gridCol>
                <a:gridCol w="566057">
                  <a:extLst>
                    <a:ext uri="{9D8B030D-6E8A-4147-A177-3AD203B41FA5}">
                      <a16:colId xmlns:a16="http://schemas.microsoft.com/office/drawing/2014/main" val="707813341"/>
                    </a:ext>
                  </a:extLst>
                </a:gridCol>
              </a:tblGrid>
              <a:tr h="396522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433350"/>
                  </a:ext>
                </a:extLst>
              </a:tr>
              <a:tr h="396522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983282"/>
                  </a:ext>
                </a:extLst>
              </a:tr>
              <a:tr h="39652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4002113"/>
                  </a:ext>
                </a:extLst>
              </a:tr>
              <a:tr h="396522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913566"/>
                  </a:ext>
                </a:extLst>
              </a:tr>
              <a:tr h="396522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946569"/>
                  </a:ext>
                </a:extLst>
              </a:tr>
              <a:tr h="396522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523470"/>
                  </a:ext>
                </a:extLst>
              </a:tr>
              <a:tr h="39652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86337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C2BAF73-B088-1FBB-49D1-B26B4591B2A9}"/>
              </a:ext>
            </a:extLst>
          </p:cNvPr>
          <p:cNvSpPr txBox="1"/>
          <p:nvPr/>
        </p:nvSpPr>
        <p:spPr>
          <a:xfrm>
            <a:off x="2667000" y="1316633"/>
            <a:ext cx="35509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0         1         2         3             4           5          6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EDE3F2-9423-496B-222C-6F1E0F6ACA53}"/>
              </a:ext>
            </a:extLst>
          </p:cNvPr>
          <p:cNvSpPr txBox="1"/>
          <p:nvPr/>
        </p:nvSpPr>
        <p:spPr>
          <a:xfrm>
            <a:off x="2151989" y="1734666"/>
            <a:ext cx="268022" cy="2693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/>
              <a:t>0</a:t>
            </a:r>
          </a:p>
          <a:p>
            <a:endParaRPr lang="en-US" sz="1300" dirty="0"/>
          </a:p>
          <a:p>
            <a:r>
              <a:rPr lang="en-US" sz="1300" dirty="0"/>
              <a:t>1</a:t>
            </a:r>
          </a:p>
          <a:p>
            <a:endParaRPr lang="en-US" sz="1300" dirty="0"/>
          </a:p>
          <a:p>
            <a:r>
              <a:rPr lang="en-US" sz="1300" dirty="0"/>
              <a:t>2</a:t>
            </a:r>
          </a:p>
          <a:p>
            <a:endParaRPr lang="en-US" sz="1300" dirty="0"/>
          </a:p>
          <a:p>
            <a:r>
              <a:rPr lang="en-US" sz="1300" dirty="0"/>
              <a:t>3</a:t>
            </a:r>
          </a:p>
          <a:p>
            <a:endParaRPr lang="en-US" sz="1300" dirty="0"/>
          </a:p>
          <a:p>
            <a:r>
              <a:rPr lang="en-US" sz="1300" dirty="0"/>
              <a:t>4</a:t>
            </a:r>
          </a:p>
          <a:p>
            <a:endParaRPr lang="en-US" sz="1300" dirty="0"/>
          </a:p>
          <a:p>
            <a:r>
              <a:rPr lang="en-US" sz="1300" dirty="0"/>
              <a:t>5</a:t>
            </a:r>
          </a:p>
          <a:p>
            <a:endParaRPr lang="en-US" sz="1300" dirty="0"/>
          </a:p>
          <a:p>
            <a:r>
              <a:rPr lang="en-US" sz="1300" dirty="0"/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C7D704-66F6-F441-991F-4649D8C614BA}"/>
              </a:ext>
            </a:extLst>
          </p:cNvPr>
          <p:cNvSpPr txBox="1"/>
          <p:nvPr/>
        </p:nvSpPr>
        <p:spPr>
          <a:xfrm>
            <a:off x="990600" y="6036733"/>
            <a:ext cx="296767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Alaska: Oregon</a:t>
            </a:r>
          </a:p>
          <a:p>
            <a:r>
              <a:rPr lang="en-US" sz="1200" dirty="0"/>
              <a:t>California: </a:t>
            </a:r>
          </a:p>
          <a:p>
            <a:r>
              <a:rPr lang="en-US" sz="1200" dirty="0"/>
              <a:t>Hawaii: Alaska, California, New York, Texas</a:t>
            </a:r>
          </a:p>
          <a:p>
            <a:r>
              <a:rPr lang="en-US" sz="1200" dirty="0"/>
              <a:t>New York:</a:t>
            </a:r>
          </a:p>
          <a:p>
            <a:r>
              <a:rPr lang="en-US" sz="1200" dirty="0"/>
              <a:t>Oregon:</a:t>
            </a:r>
          </a:p>
          <a:p>
            <a:r>
              <a:rPr lang="en-US" sz="1200" dirty="0"/>
              <a:t>Texas: Hawaii, Vermont</a:t>
            </a:r>
          </a:p>
          <a:p>
            <a:r>
              <a:rPr lang="en-US" sz="1200" dirty="0"/>
              <a:t>Vermont: Alaska, California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B977FDE-32EA-465E-AADB-9C989EE1C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43910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644F9C34-5703-4C24-9E52-5CCFFBD6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40534"/>
            <a:ext cx="5704254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a.    Which of the following lists the graph nodes in depth first order beginning with E?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A)	E, G, F, C, D, B, 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	G, A, E, C, B, F, 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highlight>
                  <a:srgbClr val="FFFF00"/>
                </a:highlight>
              </a:rPr>
              <a:t>	C)	E, G, A, D, F, C, 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	E, C, F, B, A, D, G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45A182C-00FA-4567-8FE6-CAFB6DBCF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800600"/>
            <a:ext cx="5715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b.    Which of the following lists the graph nodes in breadth first order beginning at F?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A)  F, C, D, A, B, E, 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>
                <a:highlight>
                  <a:srgbClr val="FFFF00"/>
                </a:highlight>
              </a:rPr>
              <a:t>	B)  F, D, C, A, B, C, 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C)  F, C, D, B, G, A, 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  a, b, and c are all breadth first traversals </a:t>
            </a:r>
          </a:p>
        </p:txBody>
      </p:sp>
    </p:spTree>
    <p:extLst>
      <p:ext uri="{BB962C8B-B14F-4D97-AF65-F5344CB8AC3E}">
        <p14:creationId xmlns:p14="http://schemas.microsoft.com/office/powerpoint/2010/main" val="284533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9_633b">
            <a:extLst>
              <a:ext uri="{FF2B5EF4-FFF2-40B4-BE49-F238E27FC236}">
                <a16:creationId xmlns:a16="http://schemas.microsoft.com/office/drawing/2014/main" id="{31561808-D3EA-42DE-AACF-7FE716DB2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4648200" cy="28559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Text Box 5">
            <a:extLst>
              <a:ext uri="{FF2B5EF4-FFF2-40B4-BE49-F238E27FC236}">
                <a16:creationId xmlns:a16="http://schemas.microsoft.com/office/drawing/2014/main" id="{6A9A4ED3-BE14-4EA7-88B6-70C20075B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62400"/>
            <a:ext cx="3978525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228600" indent="-228600">
              <a:spcBef>
                <a:spcPct val="0"/>
              </a:spcBef>
              <a:buFontTx/>
              <a:buAutoNum type="arabicPeriod" startAt="5"/>
            </a:pPr>
            <a:r>
              <a:rPr lang="en-US" altLang="en-US" sz="1200" dirty="0"/>
              <a:t>Find the shortest </a:t>
            </a:r>
            <a:r>
              <a:rPr lang="en-US" altLang="en-US" sz="1200" u="sng" dirty="0"/>
              <a:t>distance</a:t>
            </a:r>
            <a:r>
              <a:rPr lang="en-US" altLang="en-US" sz="1200" dirty="0"/>
              <a:t> from Atlanta to every other city</a:t>
            </a:r>
          </a:p>
          <a:p>
            <a:pPr>
              <a:spcBef>
                <a:spcPct val="0"/>
              </a:spcBef>
              <a:buNone/>
            </a:pPr>
            <a:endParaRPr lang="en-US" altLang="en-US" sz="1200" dirty="0"/>
          </a:p>
          <a:p>
            <a:pPr>
              <a:spcBef>
                <a:spcPct val="0"/>
              </a:spcBef>
              <a:buNone/>
            </a:pPr>
            <a:r>
              <a:rPr lang="en-US" altLang="en-US" sz="1200" dirty="0"/>
              <a:t>Atlanta: 0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1200" dirty="0"/>
              <a:t>Washington: 600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1200" dirty="0"/>
              <a:t>Houstin: 800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1200" dirty="0"/>
              <a:t>Denver: 2680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1200" dirty="0"/>
              <a:t>Dallas: 1900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1200" dirty="0"/>
              <a:t>Chicago: 2800</a:t>
            </a:r>
          </a:p>
          <a:p>
            <a:pPr>
              <a:spcBef>
                <a:spcPct val="0"/>
              </a:spcBef>
              <a:buNone/>
            </a:pPr>
            <a:r>
              <a:rPr lang="en-US" altLang="en-US" sz="1200" dirty="0"/>
              <a:t>Austin: 2100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5">
            <a:extLst>
              <a:ext uri="{FF2B5EF4-FFF2-40B4-BE49-F238E27FC236}">
                <a16:creationId xmlns:a16="http://schemas.microsoft.com/office/drawing/2014/main" id="{173F8752-B146-46CD-B46E-CFF49491B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09600"/>
            <a:ext cx="494244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6.  Find the minimal spanning tree using Prim’s algorithm.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0 as the source vertex .  Show the steps.</a:t>
            </a:r>
          </a:p>
        </p:txBody>
      </p:sp>
      <p:pic>
        <p:nvPicPr>
          <p:cNvPr id="2051" name="Picture 5">
            <a:extLst>
              <a:ext uri="{FF2B5EF4-FFF2-40B4-BE49-F238E27FC236}">
                <a16:creationId xmlns:a16="http://schemas.microsoft.com/office/drawing/2014/main" id="{46AC5A2B-1B00-4434-8F50-20AAD41C6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126D1D-89C2-64DD-20AE-C15A2AC4BBBE}"/>
              </a:ext>
            </a:extLst>
          </p:cNvPr>
          <p:cNvSpPr txBox="1"/>
          <p:nvPr/>
        </p:nvSpPr>
        <p:spPr>
          <a:xfrm>
            <a:off x="3886200" y="1600200"/>
            <a:ext cx="113845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(0, 2): 3</a:t>
            </a:r>
          </a:p>
          <a:p>
            <a:r>
              <a:rPr lang="en-US" sz="1400" dirty="0"/>
              <a:t>(2, 5): 1</a:t>
            </a:r>
          </a:p>
          <a:p>
            <a:r>
              <a:rPr lang="en-US" sz="1400" dirty="0"/>
              <a:t>(5, 1): 2</a:t>
            </a:r>
          </a:p>
          <a:p>
            <a:r>
              <a:rPr lang="en-US" sz="1400" dirty="0"/>
              <a:t>(1, 3): 5</a:t>
            </a:r>
          </a:p>
          <a:p>
            <a:r>
              <a:rPr lang="en-US" sz="1400" dirty="0"/>
              <a:t>(3, 4): 6</a:t>
            </a:r>
          </a:p>
          <a:p>
            <a:endParaRPr lang="en-US" sz="1400" dirty="0"/>
          </a:p>
          <a:p>
            <a:r>
              <a:rPr lang="en-US" sz="1400" dirty="0"/>
              <a:t>{0, 2, 5, 1, 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>
            <a:extLst>
              <a:ext uri="{FF2B5EF4-FFF2-40B4-BE49-F238E27FC236}">
                <a16:creationId xmlns:a16="http://schemas.microsoft.com/office/drawing/2014/main" id="{00A92C8E-6175-4482-94F6-9AEE58F15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63488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800" dirty="0"/>
              <a:t>7.  Find the minimal spanning tree using Kruskal’s algorithm.</a:t>
            </a:r>
          </a:p>
          <a:p>
            <a:pPr eaLnBrk="1" hangingPunct="1">
              <a:defRPr/>
            </a:pPr>
            <a:r>
              <a:rPr lang="en-US" sz="1800" dirty="0"/>
              <a:t>Show the weights in order and the steps.</a:t>
            </a: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E71DD7EA-C580-43B3-BC05-FA24AC85E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4800600"/>
            <a:ext cx="2571750" cy="285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6" name="Rectangle 5">
            <a:extLst>
              <a:ext uri="{FF2B5EF4-FFF2-40B4-BE49-F238E27FC236}">
                <a16:creationId xmlns:a16="http://schemas.microsoft.com/office/drawing/2014/main" id="{5A054E60-1451-4BFE-A023-A4DF0B7F1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3200"/>
            <a:ext cx="2228850" cy="2171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7" name="Rectangle 6">
            <a:extLst>
              <a:ext uri="{FF2B5EF4-FFF2-40B4-BE49-F238E27FC236}">
                <a16:creationId xmlns:a16="http://schemas.microsoft.com/office/drawing/2014/main" id="{D4108B9B-143E-4D5F-B2C5-7B979A64B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2743200"/>
            <a:ext cx="2114550" cy="2000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8" name="Rectangle 7">
            <a:extLst>
              <a:ext uri="{FF2B5EF4-FFF2-40B4-BE49-F238E27FC236}">
                <a16:creationId xmlns:a16="http://schemas.microsoft.com/office/drawing/2014/main" id="{2C2C5CBD-8904-410A-901D-4499337BD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572000"/>
            <a:ext cx="24003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9" name="Rectangle 8">
            <a:extLst>
              <a:ext uri="{FF2B5EF4-FFF2-40B4-BE49-F238E27FC236}">
                <a16:creationId xmlns:a16="http://schemas.microsoft.com/office/drawing/2014/main" id="{4FDBE91F-B50C-4798-9349-2A662252E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2743200"/>
            <a:ext cx="2343150" cy="171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080" name="Picture 5">
            <a:extLst>
              <a:ext uri="{FF2B5EF4-FFF2-40B4-BE49-F238E27FC236}">
                <a16:creationId xmlns:a16="http://schemas.microsoft.com/office/drawing/2014/main" id="{C44D3F9C-B06C-4D17-8564-DC283D6A4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2A9F5D-363D-72CA-D2D2-82AADA4C62B3}"/>
              </a:ext>
            </a:extLst>
          </p:cNvPr>
          <p:cNvSpPr txBox="1"/>
          <p:nvPr/>
        </p:nvSpPr>
        <p:spPr>
          <a:xfrm>
            <a:off x="4343400" y="1676400"/>
            <a:ext cx="75693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(2, 5): 1</a:t>
            </a:r>
          </a:p>
          <a:p>
            <a:r>
              <a:rPr lang="en-US" sz="1400" dirty="0"/>
              <a:t>(5, 1): 2</a:t>
            </a:r>
          </a:p>
          <a:p>
            <a:r>
              <a:rPr lang="en-US" sz="1400" dirty="0"/>
              <a:t>(5, 4): 3</a:t>
            </a:r>
          </a:p>
          <a:p>
            <a:r>
              <a:rPr lang="en-US" sz="1400" dirty="0"/>
              <a:t>(0, 2): 3</a:t>
            </a:r>
          </a:p>
          <a:p>
            <a:r>
              <a:rPr lang="en-US" sz="1400" dirty="0"/>
              <a:t>(1, 3): 5</a:t>
            </a:r>
          </a:p>
          <a:p>
            <a:r>
              <a:rPr lang="en-US" sz="1400" dirty="0"/>
              <a:t>(3, 4): 6</a:t>
            </a:r>
          </a:p>
          <a:p>
            <a:r>
              <a:rPr lang="en-US" sz="1400" dirty="0"/>
              <a:t>(0, 1): 7</a:t>
            </a:r>
          </a:p>
          <a:p>
            <a:r>
              <a:rPr lang="en-US" sz="1400" dirty="0"/>
              <a:t>(2, 4):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08">
            <a:extLst>
              <a:ext uri="{FF2B5EF4-FFF2-40B4-BE49-F238E27FC236}">
                <a16:creationId xmlns:a16="http://schemas.microsoft.com/office/drawing/2014/main" id="{8C139698-8935-4237-9D08-07DB6B3B1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524000"/>
            <a:ext cx="5715000" cy="3564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5">
            <a:extLst>
              <a:ext uri="{FF2B5EF4-FFF2-40B4-BE49-F238E27FC236}">
                <a16:creationId xmlns:a16="http://schemas.microsoft.com/office/drawing/2014/main" id="{8D0E32BB-9F2D-4736-AA1F-A3FD6F87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552273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8.  Find the minimal spanning tree using the algorithm you prefer.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Minneapolis/St. Paul as the source vertex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B658DA-0830-D030-23DB-28FFEF88E4A9}"/>
              </a:ext>
            </a:extLst>
          </p:cNvPr>
          <p:cNvSpPr txBox="1"/>
          <p:nvPr/>
        </p:nvSpPr>
        <p:spPr>
          <a:xfrm>
            <a:off x="990600" y="5486400"/>
            <a:ext cx="487986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(Minneapolis, Des Moines): 235             (Chicago, St Louis): 270</a:t>
            </a:r>
          </a:p>
          <a:p>
            <a:r>
              <a:rPr lang="en-US" sz="1400" dirty="0"/>
              <a:t>(Minneapolis, Madison): 270                  (Chicago, Detroit): 280</a:t>
            </a:r>
          </a:p>
          <a:p>
            <a:r>
              <a:rPr lang="en-US" sz="1400" dirty="0"/>
              <a:t>(Madison, Milwaukee): 80</a:t>
            </a:r>
          </a:p>
          <a:p>
            <a:r>
              <a:rPr lang="en-US" sz="1400" dirty="0"/>
              <a:t>(Milwaukee, Chicago): 95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>
            <a:extLst>
              <a:ext uri="{FF2B5EF4-FFF2-40B4-BE49-F238E27FC236}">
                <a16:creationId xmlns:a16="http://schemas.microsoft.com/office/drawing/2014/main" id="{80443669-B4DB-4504-ACF5-BCC233134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85800"/>
            <a:ext cx="613821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9. List the nodes of the graph in a breadth first topological ordering.  Show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     steps using arrays predCount, topologicalOrder and a queue</a:t>
            </a:r>
          </a:p>
        </p:txBody>
      </p:sp>
      <p:sp>
        <p:nvSpPr>
          <p:cNvPr id="5127" name="Rectangle 10">
            <a:extLst>
              <a:ext uri="{FF2B5EF4-FFF2-40B4-BE49-F238E27FC236}">
                <a16:creationId xmlns:a16="http://schemas.microsoft.com/office/drawing/2014/main" id="{C6B0D4E7-088E-4AFF-8702-57CBB2E7E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04800"/>
            <a:ext cx="257175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AFEBF-6A63-4870-9BDF-00EB301F6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24000"/>
            <a:ext cx="3962400" cy="24924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0920C28-30C2-C2D3-665C-32B29F9B9A98}"/>
              </a:ext>
            </a:extLst>
          </p:cNvPr>
          <p:cNvSpPr txBox="1"/>
          <p:nvPr/>
        </p:nvSpPr>
        <p:spPr>
          <a:xfrm>
            <a:off x="762000" y="3886200"/>
            <a:ext cx="33297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predCount</a:t>
            </a:r>
            <a:r>
              <a:rPr lang="en-US" sz="1400" dirty="0"/>
              <a:t>: (0, 1, 1, 1, 4, 2, 3, 0, 2, 3)</a:t>
            </a:r>
          </a:p>
          <a:p>
            <a:r>
              <a:rPr lang="en-US" sz="1400" dirty="0"/>
              <a:t>Queue: (0, 7, 1, 2, 3, 5, 4, 6, 8, 9)</a:t>
            </a:r>
          </a:p>
          <a:p>
            <a:r>
              <a:rPr lang="en-US" sz="1400" dirty="0" err="1"/>
              <a:t>topologicalOrder</a:t>
            </a:r>
            <a:r>
              <a:rPr lang="en-US" sz="1400" dirty="0"/>
              <a:t>: (0, 7, 1, 2, 3, 5, 4, 6, 8, 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 descr="08">
            <a:extLst>
              <a:ext uri="{FF2B5EF4-FFF2-40B4-BE49-F238E27FC236}">
                <a16:creationId xmlns:a16="http://schemas.microsoft.com/office/drawing/2014/main" id="{9FE784F9-D9A7-4F7B-AD49-6C3E9EEF2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5715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5">
            <a:extLst>
              <a:ext uri="{FF2B5EF4-FFF2-40B4-BE49-F238E27FC236}">
                <a16:creationId xmlns:a16="http://schemas.microsoft.com/office/drawing/2014/main" id="{FF2496EF-C9B8-49EF-A543-7502752AC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541686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10. List the nodes of the graph in a breadth first topological ordering.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C076A3-8F0C-87DF-93F1-157CEA181731}"/>
              </a:ext>
            </a:extLst>
          </p:cNvPr>
          <p:cNvSpPr txBox="1"/>
          <p:nvPr/>
        </p:nvSpPr>
        <p:spPr>
          <a:xfrm>
            <a:off x="685800" y="4114800"/>
            <a:ext cx="58674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(Start, Discrete Math, Programming 1, Programming 2, Computer Organization, Algorithms, High-Level Languages, Operating Systems, Theory of Computation, Compilers, Senior Seminar, End)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782</Words>
  <Application>Microsoft Office PowerPoint</Application>
  <PresentationFormat>On-screen Show (4:3)</PresentationFormat>
  <Paragraphs>147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Times New Roman</vt:lpstr>
      <vt:lpstr>Default Design</vt:lpstr>
      <vt:lpstr>Microsoft Word 97 - 2003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Maule, Rowan</cp:lastModifiedBy>
  <cp:revision>16</cp:revision>
  <cp:lastPrinted>2018-11-12T14:09:18Z</cp:lastPrinted>
  <dcterms:created xsi:type="dcterms:W3CDTF">2003-11-20T06:12:01Z</dcterms:created>
  <dcterms:modified xsi:type="dcterms:W3CDTF">2025-12-09T15:36:19Z</dcterms:modified>
</cp:coreProperties>
</file>